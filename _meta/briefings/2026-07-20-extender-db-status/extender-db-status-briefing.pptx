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F62FE"/>
                </a:solidFill>
                <a:latin typeface="Avenir Next"/>
              </a:rPr>
              <a:t>EXTENDER-DB · STATUS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161616"/>
                </a:solidFill>
                <a:latin typeface="Avenir Next"/>
              </a:rPr>
              <a:t>Extender-DB — Status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971800"/>
            <a:ext cx="11094415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274320" bIns="274320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2000">
                <a:solidFill>
                  <a:srgbClr val="161616"/>
                </a:solidFill>
                <a:latin typeface="Avenir Next"/>
              </a:rPr>
              <a:t>The coverage milestone is complete: every extender is now mapped to the jobs it serves.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400">
                <a:solidFill>
                  <a:srgbClr val="525252"/>
                </a:solidFill>
                <a:latin typeface="Avenir Next"/>
              </a:rPr>
              <a:t>dotfiles-agents · branch feat/extender-db · 2026-07-20 · M1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109728" cy="15544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25252"/>
                </a:solidFill>
                <a:latin typeface="Avenir Next"/>
              </a:rPr>
              <a:t>THE ESTATE,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2636443" cy="566928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120640"/>
            <a:ext cx="24901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37 extenders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7963" y="5120640"/>
            <a:ext cx="2636443" cy="566928"/>
          </a:xfrm>
          <a:prstGeom prst="round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1115" y="5120640"/>
            <a:ext cx="24901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9 frameworks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5120640"/>
            <a:ext cx="2636443" cy="566928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0439" y="5120640"/>
            <a:ext cx="24901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1,550 assessments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611" y="5120640"/>
            <a:ext cx="2636443" cy="566928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763" y="5120640"/>
            <a:ext cx="24901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24 jobs mapped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What this project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Extender-db is a queryable database of the 37 agent extenders in the marketplace, joined to the mental models used to judge and compose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62356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80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Two halves joined by assessments: the inventory (what each skill, agent, hook, and external IS) and the doctrine (frameworks: archetypes, taxonomies, authoring specs, the jobs taxonomy, adopted eval methodologies).</a:t>
            </a:r>
          </a:p>
          <a:p>
            <a:pPr>
              <a:lnSpc>
                <a:spcPct val="112000"/>
              </a:lnSpc>
              <a:spcAft>
                <a:spcPts val="1080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The design bet is "doctrine as data": mental models live as rows with provenance and status, so curation questions — covered, duplicated, missing — are queries, not impressions.</a:t>
            </a:r>
          </a:p>
          <a:p>
            <a:pPr>
              <a:lnSpc>
                <a:spcPct val="112000"/>
              </a:lnSpc>
              <a:spcAft>
                <a:spcPts val="1080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The repo stays the source of truth. The database is a rebuildable projection.</a:t>
            </a:r>
          </a:p>
          <a:p>
            <a:pPr>
              <a:lnSpc>
                <a:spcPct val="112000"/>
              </a:lnSpc>
              <a:spcAft>
                <a:spcPts val="1080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It lives as a _meta/ desk tool on its own branch; promotion to more is an explicit, gated decision that has not been made.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331720"/>
            <a:ext cx="2506827" cy="109728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2404872"/>
            <a:ext cx="2360523" cy="9509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INVENTORY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D0E2FF"/>
                </a:solidFill>
                <a:latin typeface="Avenir Next"/>
              </a:rPr>
              <a:t>extenders · files · distributions ·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6227" y="2331720"/>
            <a:ext cx="2506827" cy="1097280"/>
          </a:xfrm>
          <a:prstGeom prst="round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09379" y="2404872"/>
            <a:ext cx="2360523" cy="9509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DOCTRINE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B4F2EF"/>
                </a:solidFill>
                <a:latin typeface="Avenir Next"/>
              </a:rPr>
              <a:t>frameworks · elements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977639"/>
            <a:ext cx="5196535" cy="82296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3977639"/>
            <a:ext cx="501365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ASSESSMENTS — the join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venir Next"/>
              </a:rPr>
              <a:t>extender × element × assessor → present / partial / absent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99933" y="3429000"/>
            <a:ext cx="0" cy="548639"/>
          </a:xfrm>
          <a:prstGeom prst="line">
            <a:avLst/>
          </a:prstGeom>
          <a:ln w="25400">
            <a:solidFill>
              <a:srgbClr val="8D8D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89641" y="3429000"/>
            <a:ext cx="0" cy="548639"/>
          </a:xfrm>
          <a:prstGeom prst="line">
            <a:avLst/>
          </a:prstGeom>
          <a:ln w="25400">
            <a:solidFill>
              <a:srgbClr val="8D8D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46520" y="5074920"/>
            <a:ext cx="1417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5074920"/>
            <a:ext cx="134416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61616"/>
                </a:solidFill>
                <a:latin typeface="Avenir Next"/>
              </a:rPr>
              <a:t>repo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25735" y="5074920"/>
            <a:ext cx="1417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62311" y="5074920"/>
            <a:ext cx="134416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61616"/>
                </a:solidFill>
                <a:latin typeface="Avenir Next"/>
              </a:rPr>
              <a:t>database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5358383"/>
            <a:ext cx="2361895" cy="0"/>
          </a:xfrm>
          <a:prstGeom prst="line">
            <a:avLst/>
          </a:prstGeom>
          <a:ln w="31750">
            <a:solidFill>
              <a:srgbClr val="0F62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5678424"/>
            <a:ext cx="519653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25252"/>
                </a:solidFill>
                <a:latin typeface="Avenir Next"/>
              </a:rPr>
              <a:t>one-way projection — edits flow repo → DB, never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Track I — our own IP — has its foundation complete as of today; Track II — adopted evaluation — is loaded but not yet exercised.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284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4A148"/>
                </a:solidFill>
                <a:latin typeface="Avenir Next"/>
              </a:rPr>
              <a:t>DELIVERED</a:t>
            </a:r>
            <a:r>
              <a:rPr sz="1100" b="0" i="1">
                <a:solidFill>
                  <a:srgbClr val="525252"/>
                </a:solidFill>
                <a:latin typeface="Avenir Next"/>
              </a:rPr>
              <a:t>   W0 through M1 — the shared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490863" cy="676656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487168"/>
            <a:ext cx="134455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W0 seed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9231" y="2487168"/>
            <a:ext cx="1490863" cy="676656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2383" y="2487168"/>
            <a:ext cx="134455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W1 judged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823" y="2487168"/>
            <a:ext cx="1490863" cy="676656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975" y="2487168"/>
            <a:ext cx="134455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W2 hooks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0415" y="2487168"/>
            <a:ext cx="1490863" cy="676656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3567" y="2487168"/>
            <a:ext cx="134455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W3 externals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51007" y="2487168"/>
            <a:ext cx="1490863" cy="676656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4159" y="2487168"/>
            <a:ext cx="134455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W7 eval provenance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51599" y="2487168"/>
            <a:ext cx="1490863" cy="676656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4751" y="2487168"/>
            <a:ext cx="134455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W9 taxonomy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52191" y="2487168"/>
            <a:ext cx="1490863" cy="676656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5343" y="2487168"/>
            <a:ext cx="134455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M1 coverage body (today)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9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F62FE"/>
                </a:solidFill>
                <a:latin typeface="Avenir Next"/>
              </a:rPr>
              <a:t>NEXT</a:t>
            </a:r>
            <a:r>
              <a:rPr sz="1100" b="0" i="1">
                <a:solidFill>
                  <a:srgbClr val="525252"/>
                </a:solidFill>
                <a:latin typeface="Avenir Next"/>
              </a:rPr>
              <a:t>   Track I — our IP (blue)      Track II — adopted eval, staged (purple)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22191"/>
            <a:ext cx="2131100" cy="676656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22191"/>
            <a:ext cx="1984796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M2 analysis surface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9468" y="3822191"/>
            <a:ext cx="2131100" cy="676656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2620" y="3822191"/>
            <a:ext cx="1984796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M3 combine/coalesce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0297" y="3822191"/>
            <a:ext cx="2131100" cy="676656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3449" y="3822191"/>
            <a:ext cx="1984796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M4 eval doctrine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1125" y="3822191"/>
            <a:ext cx="2131100" cy="676656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4277" y="3822191"/>
            <a:ext cx="1984796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M5 first comparative eval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1954" y="3822191"/>
            <a:ext cx="2131100" cy="676656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5106" y="3822191"/>
            <a:ext cx="1984796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M6 self-improvement loop (staged)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92040"/>
            <a:ext cx="110944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92040"/>
            <a:ext cx="109728" cy="9601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020055"/>
            <a:ext cx="10454335" cy="7040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525252"/>
                </a:solidFill>
                <a:latin typeface="Avenir Next"/>
              </a:rPr>
              <a:t>CHARTER PROMOTION GATE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161616"/>
                </a:solidFill>
                <a:latin typeface="Avenir Next"/>
              </a:rPr>
              <a:t>2 of 4 criteria ticked</a:t>
            </a:r>
            <a:r>
              <a:rPr sz="1500" b="0" i="0">
                <a:solidFill>
                  <a:srgbClr val="161616"/>
                </a:solidFill>
                <a:latin typeface="Avenir Next"/>
              </a:rPr>
              <a:t>  —  judged pass ✓, hooks end-to-end ✓; findings→actions and update-path proof remain.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What the database holds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One thousand five hundred fifty assessment rows now connect the 37-extender inventory to nine frameworks, and every verdict resolves to the exact prompt and response that produced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42032"/>
          <a:ext cx="11094415" cy="2697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06040"/>
                <a:gridCol w="8488375"/>
              </a:tblGrid>
              <a:tr h="4495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venir Next"/>
                        </a:rPr>
                        <a:t>Layer</a:t>
                      </a:r>
                    </a:p>
                  </a:txBody>
                  <a:tcPr marL="137160" marR="137160" marT="45720" marB="45720" anchor="ctr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venir Next"/>
                        </a:rPr>
                        <a:t>Contents</a:t>
                      </a:r>
                    </a:p>
                  </a:txBody>
                  <a:tcPr marL="137160" marR="137160" marT="45720" marB="45720" anchor="ctr">
                    <a:solidFill>
                      <a:srgbClr val="393939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0F62FE"/>
                          </a:solidFill>
                          <a:latin typeface="Avenir Next"/>
                        </a:rPr>
                        <a:t>Inventory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61616"/>
                          </a:solidFill>
                          <a:latin typeface="Avenir Next"/>
                        </a:rPr>
                        <a:t>37 extenders (23 authored skills · 4 agents · 4 hooks · 6 externals), full file contents, packaging, 10-publisher trust registry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0F62FE"/>
                          </a:solidFill>
                          <a:latin typeface="Avenir Next"/>
                        </a:rPr>
                        <a:t>Doctrine</a:t>
                      </a:r>
                    </a:p>
                  </a:txBody>
                  <a:tcPr marL="137160" marR="137160" marT="45720" marB="4572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61616"/>
                          </a:solidFill>
                          <a:latin typeface="Avenir Next"/>
                        </a:rPr>
                        <a:t>9 frameworks, 72 elements — including the 24-job taxonomy and two adopted eval methodologies (SkillOpt, ClosedLoop judges)</a:t>
                      </a:r>
                    </a:p>
                  </a:txBody>
                  <a:tcPr marL="137160" marR="137160" marT="45720" marB="45720" anchor="ctr">
                    <a:solidFill>
                      <a:srgbClr val="F4F4F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0F62FE"/>
                          </a:solidFill>
                          <a:latin typeface="Avenir Next"/>
                        </a:rPr>
                        <a:t>Assessments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61616"/>
                          </a:solidFill>
                          <a:latin typeface="Avenir Next"/>
                        </a:rPr>
                        <a:t>1,550 rows across mechanical, judged, review, and coverage passes — all provenance-linked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0F62FE"/>
                          </a:solidFill>
                          <a:latin typeface="Avenir Next"/>
                        </a:rPr>
                        <a:t>Coverage (new)</a:t>
                      </a:r>
                    </a:p>
                  </a:txBody>
                  <a:tcPr marL="137160" marR="137160" marT="45720" marB="4572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61616"/>
                          </a:solidFill>
                          <a:latin typeface="Avenir Next"/>
                        </a:rPr>
                        <a:t>24 job_coverage rows: 19 covered · 3 partial · 2 gaps</a:t>
                      </a:r>
                    </a:p>
                  </a:txBody>
                  <a:tcPr marL="137160" marR="137160" marT="45720" marB="45720" anchor="ctr">
                    <a:solidFill>
                      <a:srgbClr val="F4F4F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0F62FE"/>
                          </a:solidFill>
                          <a:latin typeface="Avenir Next"/>
                        </a:rPr>
                        <a:t>Relationships (new)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161616"/>
                          </a:solidFill>
                          <a:latin typeface="Avenir Next"/>
                        </a:rPr>
                        <a:t>46 rows: 24 complementary · 1 duplicative · 21 directed hand-off links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4068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25252"/>
                </a:solidFill>
                <a:latin typeface="Avenir Next"/>
              </a:rPr>
              <a:t>EVERY VERDICT RESOLVES TO ITS EXACT PROVENANCE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742432"/>
            <a:ext cx="2331720" cy="50292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742432"/>
            <a:ext cx="218541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verdict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16936" y="5993892"/>
            <a:ext cx="516026" cy="0"/>
          </a:xfrm>
          <a:prstGeom prst="line">
            <a:avLst/>
          </a:prstGeom>
          <a:ln w="25400">
            <a:solidFill>
              <a:srgbClr val="8D8D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69538" y="5742432"/>
            <a:ext cx="2331720" cy="502920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2690" y="5742432"/>
            <a:ext cx="218541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eval_run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37834" y="5993892"/>
            <a:ext cx="516026" cy="0"/>
          </a:xfrm>
          <a:prstGeom prst="line">
            <a:avLst/>
          </a:prstGeom>
          <a:ln w="25400">
            <a:solidFill>
              <a:srgbClr val="8D8D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90436" y="5742432"/>
            <a:ext cx="2331720" cy="502920"/>
          </a:xfrm>
          <a:prstGeom prst="round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3588" y="5742432"/>
            <a:ext cx="218541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exact prompt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8732" y="5993892"/>
            <a:ext cx="516027" cy="0"/>
          </a:xfrm>
          <a:prstGeom prst="line">
            <a:avLst/>
          </a:prstGeom>
          <a:ln w="25400">
            <a:solidFill>
              <a:srgbClr val="8D8D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11335" y="5742432"/>
            <a:ext cx="2331720" cy="50292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4487" y="5742432"/>
            <a:ext cx="218541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verbatim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The coverage matrix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Of the 24 jobs the estate needs done, 19 are covered by at least one extender whose primary purpose is that job; three are only partially served; two are open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31136"/>
            <a:ext cx="219456" cy="219456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9456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1616"/>
                </a:solidFill>
                <a:latin typeface="Avenir Next"/>
              </a:rPr>
              <a:t>covered ·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231136"/>
            <a:ext cx="219456" cy="219456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219456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1616"/>
                </a:solidFill>
                <a:latin typeface="Avenir Next"/>
              </a:rPr>
              <a:t>partial ·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231136"/>
            <a:ext cx="219456" cy="219456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219456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1616"/>
                </a:solidFill>
                <a:latin typeface="Avenir Next"/>
              </a:rPr>
              <a:t>gap ·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1506539" cy="45720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578608"/>
            <a:ext cx="143338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understand-research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45536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145536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orient-codebase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85032"/>
            <a:ext cx="1506539" cy="45720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5032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research-question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24528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224528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consult-domain-expertise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6619" y="2578608"/>
            <a:ext cx="1506539" cy="45720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83195" y="2578608"/>
            <a:ext cx="143338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build-software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6619" y="3145536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9771" y="3145536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plan-work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6619" y="3685032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9771" y="3685032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implement-change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6619" y="4224528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9771" y="4224528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improve-code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6619" y="4764024"/>
            <a:ext cx="1506539" cy="457200"/>
          </a:xfrm>
          <a:prstGeom prst="round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19771" y="4764024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migrate-at-scale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4598" y="2578608"/>
            <a:ext cx="1506539" cy="45720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1174" y="2578608"/>
            <a:ext cx="143338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assure-quality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4598" y="3145536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7750" y="3145536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review-change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4598" y="3685032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7750" y="3685032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verify-works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2577" y="2578608"/>
            <a:ext cx="1506539" cy="45720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79153" y="2578608"/>
            <a:ext cx="143338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orchestrate-sustain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42577" y="3145536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15729" y="3145536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delegate-large-job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42577" y="3685032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5729" y="3685032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sustain-continuity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42577" y="4224528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15729" y="4224528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manage-backlog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0557" y="2578608"/>
            <a:ext cx="1506539" cy="45720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77133" y="2578608"/>
            <a:ext cx="143338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produce-deliverables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0557" y="3145536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13709" y="3145536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produce-briefing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0557" y="3685032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13709" y="3685032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produce-deck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0557" y="4224528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13709" y="4224528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produce-diagram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40557" y="4764024"/>
            <a:ext cx="1506539" cy="45720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13709" y="4764024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produce-dataviz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40557" y="5303520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13709" y="5303520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produce-readme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38536" y="2578608"/>
            <a:ext cx="1506539" cy="45720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75112" y="2578608"/>
            <a:ext cx="143338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govern-estate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38536" y="3145536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11688" y="3145536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enforce-standards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38536" y="3685032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11688" y="3685032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govern-external-code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38536" y="4224528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11688" y="4224528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get-owner-signoff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36515" y="2578608"/>
            <a:ext cx="1506539" cy="45720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73091" y="2578608"/>
            <a:ext cx="1433387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extend-tooling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36515" y="3145536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09667" y="3145536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author-evaluate-extender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36515" y="3685032"/>
            <a:ext cx="1506539" cy="457200"/>
          </a:xfrm>
          <a:prstGeom prst="round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9667" y="3685032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configure-harness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36515" y="4224528"/>
            <a:ext cx="1506539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09667" y="4224528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integrate-knowledge-system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36515" y="4764024"/>
            <a:ext cx="1506539" cy="457200"/>
          </a:xfrm>
          <a:prstGeom prst="round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09667" y="4764024"/>
            <a:ext cx="13602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operate-browser-ui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797296"/>
            <a:ext cx="1109441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843016"/>
            <a:ext cx="1072865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F62FE"/>
                </a:solidFill>
                <a:latin typeface="Avenir Next"/>
              </a:rPr>
              <a:t>Deepest coverage: </a:t>
            </a:r>
            <a:r>
              <a:rPr sz="1200" b="0" i="0">
                <a:solidFill>
                  <a:srgbClr val="161616"/>
                </a:solidFill>
                <a:latin typeface="Avenir Next"/>
              </a:rPr>
              <a:t>sustain-continuity (3 present + 1 partial), produce-diagram (4 present), integrate-knowledge-system (4 present), manage-backlog and enforce-standards (3 present each).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Source: coverage-matrix.md · framework hsb3-jobs-to-be-done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Every hole has an in-estate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punchline of the coverage work: nothing missing needs to be authored from scratch — every gap and weak spot already has a candidate in the estate.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377440"/>
            <a:ext cx="1584655" cy="274320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377440"/>
            <a:ext cx="158465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ROSTER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C6C6C6"/>
                </a:solidFill>
                <a:latin typeface="Avenir Next"/>
              </a:rPr>
              <a:t>promote / adopt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research-question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8" y="2377440"/>
            <a:ext cx="960120" cy="475488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377440"/>
            <a:ext cx="81381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9936" y="2377440"/>
            <a:ext cx="5495543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2377440"/>
            <a:ext cx="534923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61616"/>
                </a:solidFill>
                <a:latin typeface="Avenir Next"/>
              </a:rPr>
              <a:t>Promote the user-level deep-research skill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92055" y="2615184"/>
            <a:ext cx="466345" cy="0"/>
          </a:xfrm>
          <a:prstGeom prst="line">
            <a:avLst/>
          </a:prstGeom>
          <a:ln w="25400">
            <a:solidFill>
              <a:srgbClr val="0F62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944368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produce-dataviz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0088" y="2944368"/>
            <a:ext cx="960120" cy="475488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944368"/>
            <a:ext cx="81381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9936" y="2944368"/>
            <a:ext cx="5495543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2944368"/>
            <a:ext cx="534923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61616"/>
                </a:solidFill>
                <a:latin typeface="Avenir Next"/>
              </a:rPr>
              <a:t>Promote the user-level dataviz skill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92055" y="3182112"/>
            <a:ext cx="466345" cy="0"/>
          </a:xfrm>
          <a:prstGeom prst="line">
            <a:avLst/>
          </a:prstGeom>
          <a:ln w="25400">
            <a:solidFill>
              <a:srgbClr val="0F62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511296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configure-harness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0088" y="3511296"/>
            <a:ext cx="960120" cy="475488"/>
          </a:xfrm>
          <a:prstGeom prst="round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511296"/>
            <a:ext cx="81381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partial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6" y="3511296"/>
            <a:ext cx="5495543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33088" y="3511296"/>
            <a:ext cx="534923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61616"/>
                </a:solidFill>
                <a:latin typeface="Avenir Next"/>
              </a:rPr>
              <a:t>Promote the user-level update-config skill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92055" y="3749039"/>
            <a:ext cx="466345" cy="0"/>
          </a:xfrm>
          <a:prstGeom prst="line">
            <a:avLst/>
          </a:prstGeom>
          <a:ln w="25400">
            <a:solidFill>
              <a:srgbClr val="0F62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078224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migrate-at-scale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4078224"/>
            <a:ext cx="960120" cy="475488"/>
          </a:xfrm>
          <a:prstGeom prst="round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078224"/>
            <a:ext cx="81381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partial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59936" y="4078224"/>
            <a:ext cx="5495543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33088" y="4078224"/>
            <a:ext cx="534923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61616"/>
                </a:solidFill>
                <a:latin typeface="Avenir Next"/>
              </a:rPr>
              <a:t>Fold a migration playbook into foreman-kit (arch C is the mechanism)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92055" y="4315968"/>
            <a:ext cx="466345" cy="0"/>
          </a:xfrm>
          <a:prstGeom prst="line">
            <a:avLst/>
          </a:prstGeom>
          <a:ln w="25400">
            <a:solidFill>
              <a:srgbClr val="0F62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645152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operate-browser-ui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90088" y="4645152"/>
            <a:ext cx="960120" cy="475488"/>
          </a:xfrm>
          <a:prstGeom prst="round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645152"/>
            <a:ext cx="813816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partial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9936" y="4645152"/>
            <a:ext cx="5495543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33088" y="4645152"/>
            <a:ext cx="534923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61616"/>
                </a:solidFill>
                <a:latin typeface="Avenir Next"/>
              </a:rPr>
              <a:t>Reference Anthropic's claude-in-chrome at harness level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92055" y="4882896"/>
            <a:ext cx="466345" cy="0"/>
          </a:xfrm>
          <a:prstGeom prst="line">
            <a:avLst/>
          </a:prstGeom>
          <a:ln w="25400">
            <a:solidFill>
              <a:srgbClr val="0F62F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48640" y="5321807"/>
            <a:ext cx="11094415" cy="5669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321807"/>
            <a:ext cx="1054577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venir Next"/>
              </a:rPr>
              <a:t>These five calls are yours — issue #153, each with a default so a bare thumbs-up accepts all.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How M1 was verified (the crew)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mapping was produced by a layered crew, not a single pass: cheap judges fanned out, blind reviewers re-derived a sample, and the session adjudicated every disagreement.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59152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59152"/>
            <a:ext cx="457200" cy="3657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359152"/>
            <a:ext cx="103171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1616"/>
                </a:solidFill>
                <a:latin typeface="Avenir Next"/>
              </a:rPr>
              <a:t>7 sonnet judges — batched by kind, JSON only, no database access</a:t>
            </a:r>
          </a:p>
        </p:txBody>
      </p:sp>
      <p:sp>
        <p:nvSpPr>
          <p:cNvPr id="9" name="Down Arrow 8"/>
          <p:cNvSpPr/>
          <p:nvPr/>
        </p:nvSpPr>
        <p:spPr>
          <a:xfrm>
            <a:off x="694944" y="2706624"/>
            <a:ext cx="164592" cy="128016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16352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16352"/>
            <a:ext cx="457200" cy="3657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816352"/>
            <a:ext cx="103171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1616"/>
                </a:solidFill>
                <a:latin typeface="Avenir Next"/>
              </a:rPr>
              <a:t>merge + validate by script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94944" y="3163824"/>
            <a:ext cx="164592" cy="128016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73552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73552"/>
            <a:ext cx="457200" cy="3657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7355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273552"/>
            <a:ext cx="103171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1616"/>
                </a:solidFill>
                <a:latin typeface="Avenir Next"/>
              </a:rPr>
              <a:t>888 coverage assessments loaded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94944" y="3621024"/>
            <a:ext cx="164592" cy="128016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30752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30752"/>
            <a:ext cx="457200" cy="36576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730752"/>
            <a:ext cx="103171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1616"/>
                </a:solidFill>
                <a:latin typeface="Avenir Next"/>
              </a:rPr>
              <a:t>2 blind opus reviewers (stratified 8-extender sample) + 1 opus duplicative-pair check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94944" y="4078224"/>
            <a:ext cx="164592" cy="128016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87952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87952"/>
            <a:ext cx="457200" cy="36576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8795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187952"/>
            <a:ext cx="103171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1616"/>
                </a:solidFill>
                <a:latin typeface="Avenir Next"/>
              </a:rPr>
              <a:t>session adjudication — 10 rows patched, 4 boundary rules logged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94944" y="4535424"/>
            <a:ext cx="164592" cy="128016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645152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45152"/>
            <a:ext cx="457200" cy="365760"/>
          </a:xfrm>
          <a:prstGeom prst="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4515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645152"/>
            <a:ext cx="103171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1616"/>
                </a:solidFill>
                <a:latin typeface="Avenir Next"/>
              </a:rPr>
              <a:t>synthesis — relationships + job_coverage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694944" y="4992624"/>
            <a:ext cx="164592" cy="128016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102352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102352"/>
            <a:ext cx="457200" cy="365760"/>
          </a:xfrm>
          <a:prstGeom prst="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10235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" y="5102352"/>
            <a:ext cx="103171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1616"/>
                </a:solidFill>
                <a:latin typeface="Avenir Next"/>
              </a:rPr>
              <a:t>generated coverage matrix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614416"/>
            <a:ext cx="11094415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669279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161616"/>
                </a:solidFill>
                <a:latin typeface="Avenir Next"/>
              </a:rPr>
              <a:t>Full provenance: three eval_runs hold every exact prompt and verbatim response (W7 invariant).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161616"/>
                </a:solidFill>
                <a:latin typeface="Avenir Next"/>
              </a:rPr>
              <a:t>The 662 pre-existing assessment rows survived the live schema change checksum-identical.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What verification actually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Blind review is recall, not just error-correction — it added coverage the fan-out missed, and produced boundary rules that become the next rubric.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25252"/>
                </a:solidFill>
                <a:latin typeface="Avenir Next"/>
              </a:rPr>
              <a:t>10 DISPUTED VERDICT CELLS ON THE 8-EXTENDER 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87168"/>
            <a:ext cx="7766090" cy="45720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776609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venir Nex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776609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1616"/>
                </a:solidFill>
                <a:latin typeface="Avenir Next"/>
              </a:rPr>
              <a:t>7 adjacent-step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8314730" y="2487168"/>
            <a:ext cx="2218883" cy="45720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4730" y="2487168"/>
            <a:ext cx="221888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4730" y="2999232"/>
            <a:ext cx="2218883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1616"/>
                </a:solidFill>
                <a:latin typeface="Avenir Next"/>
              </a:rPr>
              <a:t>2 reassigned (EDB-23)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33613" y="2487168"/>
            <a:ext cx="1109441" cy="45720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33613" y="2487168"/>
            <a:ext cx="110944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613" y="299923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61616"/>
                </a:solidFill>
                <a:latin typeface="Avenir Next"/>
              </a:rPr>
              <a:t>1 added by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10 verdict cells disputed on the 8-extender sample; 7 were adjacent-step (the recurring partial boundary, same as W1).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The reviewers found a real capability the judges missed: readme-value-and-proof's headless-Chromium screenshot capture turned operate-browser-ui from a hard gap into partial coverage.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Two thin-description externals were reassigned outright — evidence that judging externals by a one-line description is under-determined (now tracked as EDB-23).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1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00" b="0">
                <a:solidFill>
                  <a:srgbClr val="161616"/>
                </a:solidFill>
                <a:latin typeface="Avenir Next"/>
              </a:rPr>
              <a:t>Four boundary rules were logged (for example: consuming the handoff is not sustaining continuity; nudge-only hooks cap at partial). They feed the M4 rubric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The one confirmed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Only one duplicative pair survived adversarial checking, and the check produced a reusable test for duplication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354573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41448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Avenir Next"/>
              </a:rPr>
              <a:t>base + override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331720"/>
            <a:ext cx="354573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0138" y="2441448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Avenir Next"/>
              </a:rPr>
              <a:t>orchestrator + worker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7316" y="2331720"/>
            <a:ext cx="3545738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4476" y="2441448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Avenir Next"/>
              </a:rPr>
              <a:t>hub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749039"/>
            <a:ext cx="2539898" cy="457200"/>
          </a:xfrm>
          <a:prstGeom prst="roundRect">
            <a:avLst/>
          </a:prstGeom>
          <a:solidFill>
            <a:srgbClr val="D0E2FF"/>
          </a:solidFill>
          <a:ln w="1587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749039"/>
            <a:ext cx="246674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pptx  (base)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200400"/>
            <a:ext cx="2539898" cy="457200"/>
          </a:xfrm>
          <a:prstGeom prst="roundRect">
            <a:avLst/>
          </a:prstGeom>
          <a:solidFill>
            <a:srgbClr val="0F62FE"/>
          </a:solidFill>
          <a:ln w="1587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200400"/>
            <a:ext cx="246674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pptx-themes  (override)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82898" y="3429000"/>
            <a:ext cx="0" cy="320039"/>
          </a:xfrm>
          <a:prstGeom prst="line">
            <a:avLst/>
          </a:prstGeom>
          <a:ln w="25400">
            <a:solidFill>
              <a:srgbClr val="1616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297679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25252"/>
                </a:solidFill>
                <a:latin typeface="Avenir Next"/>
              </a:rPr>
              <a:t>override layer wins — composition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" y="4572000"/>
            <a:ext cx="2997098" cy="329184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" y="4572000"/>
            <a:ext cx="285079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REFUTED — not a dup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8778" y="3200400"/>
            <a:ext cx="2174138" cy="457200"/>
          </a:xfrm>
          <a:prstGeom prst="roundRect">
            <a:avLst/>
          </a:prstGeom>
          <a:solidFill>
            <a:srgbClr val="8A3FFC"/>
          </a:solidFill>
          <a:ln w="15875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5354" y="3200400"/>
            <a:ext cx="210098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lead  (orchestrator)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3138" y="4023360"/>
            <a:ext cx="2174138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9714" y="4023360"/>
            <a:ext cx="210098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builder  (worker)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5847" y="3657600"/>
            <a:ext cx="594360" cy="365760"/>
          </a:xfrm>
          <a:prstGeom prst="line">
            <a:avLst/>
          </a:prstGeom>
          <a:ln w="25400">
            <a:solidFill>
              <a:srgbClr val="8A3F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05858" y="4572000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25252"/>
                </a:solidFill>
                <a:latin typeface="Avenir Next"/>
              </a:rPr>
              <a:t>spawns a worker — distinct triggers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7298" y="4572000"/>
            <a:ext cx="2997098" cy="329184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0450" y="4572000"/>
            <a:ext cx="285079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REFUTED — not a dup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4385" y="3154679"/>
            <a:ext cx="1371600" cy="438912"/>
          </a:xfrm>
          <a:prstGeom prst="roundRect">
            <a:avLst/>
          </a:prstGeom>
          <a:solidFill>
            <a:srgbClr val="393939"/>
          </a:solidFill>
          <a:ln w="15875">
            <a:solidFill>
              <a:srgbClr val="39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0961" y="3154679"/>
            <a:ext cx="129844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diagrams hub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0196" y="3931920"/>
            <a:ext cx="1452829" cy="56692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6772" y="3931920"/>
            <a:ext cx="137967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24A148"/>
                </a:solidFill>
                <a:latin typeface="Avenir Next"/>
              </a:rPr>
              <a:t>excalidraw (authored)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07346" y="3931920"/>
            <a:ext cx="145282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3921" y="3931920"/>
            <a:ext cx="137967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DA1E28"/>
                </a:solidFill>
                <a:latin typeface="Avenir Next"/>
              </a:rPr>
              <a:t>coleam00 twin (unrouted)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006611" y="3593591"/>
            <a:ext cx="452095" cy="338329"/>
          </a:xfrm>
          <a:prstGeom prst="line">
            <a:avLst/>
          </a:prstGeom>
          <a:ln w="28575">
            <a:solidFill>
              <a:srgbClr val="24A1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81665" y="3593591"/>
            <a:ext cx="452095" cy="338329"/>
          </a:xfrm>
          <a:prstGeom prst="line">
            <a:avLst/>
          </a:prstGeom>
          <a:ln w="22225">
            <a:solidFill>
              <a:srgbClr val="DA1E2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71636" y="4572000"/>
            <a:ext cx="2997098" cy="329184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4788" y="4572000"/>
            <a:ext cx="285079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CONFIRMED — drop or fold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60"/>
            <a:ext cx="11094415" cy="777240"/>
          </a:xfrm>
          <a:prstGeom prst="rect">
            <a:avLst/>
          </a:prstGeom>
          <a:solidFill>
            <a:srgbClr val="F4F4F4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166360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0F62FE"/>
                </a:solidFill>
                <a:latin typeface="Avenir Next"/>
              </a:rPr>
              <a:t>The doctrine: </a:t>
            </a:r>
            <a:r>
              <a:rPr sz="1400" b="0" i="0">
                <a:solidFill>
                  <a:srgbClr val="161616"/>
                </a:solidFill>
                <a:latin typeface="Avenir Next"/>
              </a:rPr>
              <a:t>"produces the same deliverable" is a weak duplication signal. The real test is "same job the SAME WAY" — check for base+override, orchestrator+worker, and hub-routing before believing a duplicative call.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Relationships: delegation &amp;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Beyond coverage, M1 recorded how the extenders hand off to each other — the raw material a future composition planner will reason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042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Avenir Next"/>
              </a:rPr>
              <a:t>46 relationship rows: 24 complementary · 1 duplicative · 21 directed hand-off links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79" y="2432303"/>
            <a:ext cx="384048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0" y="229514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Avenir Next"/>
              </a:rPr>
              <a:t>precedes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213494" y="2432303"/>
            <a:ext cx="384048" cy="0"/>
          </a:xfrm>
          <a:prstGeom prst="line">
            <a:avLst/>
          </a:prstGeom>
          <a:ln w="2540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70694" y="229514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Avenir Next"/>
              </a:rPr>
              <a:t>feeds-into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17830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520440"/>
            <a:ext cx="1709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scout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3520440"/>
            <a:ext cx="1783080" cy="566928"/>
          </a:xfrm>
          <a:prstGeom prst="roundRect">
            <a:avLst/>
          </a:prstGeom>
          <a:solidFill>
            <a:srgbClr val="D0E2FF"/>
          </a:solidFill>
          <a:ln w="1587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5" y="3520440"/>
            <a:ext cx="1709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builder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520440"/>
            <a:ext cx="178308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3520440"/>
            <a:ext cx="1709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reviewer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2743200"/>
            <a:ext cx="1783080" cy="566928"/>
          </a:xfrm>
          <a:prstGeom prst="roundRect">
            <a:avLst/>
          </a:prstGeom>
          <a:solidFill>
            <a:srgbClr val="8A3FFC"/>
          </a:solidFill>
          <a:ln w="15875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743200"/>
            <a:ext cx="1709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venir Next"/>
              </a:rPr>
              <a:t>lead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14600" y="3803904"/>
            <a:ext cx="1463039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720" y="3694176"/>
            <a:ext cx="1463040" cy="0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60720" y="3931920"/>
            <a:ext cx="1463040" cy="0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052059" y="3026664"/>
            <a:ext cx="525781" cy="493776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60919" y="3026664"/>
            <a:ext cx="754381" cy="493776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25196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25252"/>
                </a:solidFill>
                <a:latin typeface="Avenir Next"/>
              </a:rPr>
              <a:t>build loop — scout precedes builder; builder and reviewer feed each other; lead orchestrates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21031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029200"/>
            <a:ext cx="20299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context-watermark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5029200"/>
            <a:ext cx="23774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42816" y="5029200"/>
            <a:ext cx="230428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handoff-freshness-guard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5029200"/>
            <a:ext cx="23774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5" y="5029200"/>
            <a:ext cx="230428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session-handoff-surfacer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34639" y="5312664"/>
            <a:ext cx="1371601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79" y="5312664"/>
            <a:ext cx="1371600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5742432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525252"/>
                </a:solidFill>
                <a:latin typeface="Avenir Next"/>
              </a:rPr>
              <a:t>continuity chain — each guard precedes the next, passing the baton forward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Relationships: deliverables, governance &amp;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long-game consumer, deferred as EDB-22, is a grounded planner that reads coverage plus directional links plus triggers and assembles an ordered toolkit per goal at request time.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55279" y="2185415"/>
            <a:ext cx="384048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0" y="2048255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Avenir Next"/>
              </a:rPr>
              <a:t>precedes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213494" y="2185415"/>
            <a:ext cx="384048" cy="0"/>
          </a:xfrm>
          <a:prstGeom prst="line">
            <a:avLst/>
          </a:prstGeom>
          <a:ln w="2540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70694" y="2048255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61616"/>
                </a:solidFill>
                <a:latin typeface="Avenir Next"/>
              </a:rPr>
              <a:t>feeds-into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9D9A"/>
                </a:solidFill>
                <a:latin typeface="Avenir Next"/>
              </a:rPr>
              <a:t>DELIVERABLES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5544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68880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handoff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15544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108960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850" b="1" i="0">
                <a:solidFill>
                  <a:srgbClr val="161616"/>
                </a:solidFill>
                <a:latin typeface="Avenir Next"/>
              </a:rPr>
              <a:t>readme-value-and-proof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788920"/>
            <a:ext cx="1554480" cy="502920"/>
          </a:xfrm>
          <a:prstGeom prst="roundRect">
            <a:avLst/>
          </a:prstGeom>
          <a:solidFill>
            <a:srgbClr val="D0E2FF"/>
          </a:solidFill>
          <a:ln w="1587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788920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comms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246120"/>
            <a:ext cx="15544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3246120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pptx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788920"/>
            <a:ext cx="1554480" cy="502920"/>
          </a:xfrm>
          <a:prstGeom prst="roundRect">
            <a:avLst/>
          </a:prstGeom>
          <a:solidFill>
            <a:srgbClr val="D0E2FF"/>
          </a:solidFill>
          <a:ln w="1587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2788920"/>
            <a:ext cx="148132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 i="0">
                <a:solidFill>
                  <a:srgbClr val="161616"/>
                </a:solidFill>
                <a:latin typeface="Avenir Next"/>
              </a:rPr>
              <a:t>pptx-themes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4560" y="2720340"/>
            <a:ext cx="640080" cy="320039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4560" y="3040379"/>
            <a:ext cx="640080" cy="320041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89120" y="3040379"/>
            <a:ext cx="2834640" cy="0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83680" y="3040379"/>
            <a:ext cx="640080" cy="457200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02336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A3FFC"/>
                </a:solidFill>
                <a:latin typeface="Avenir Next"/>
              </a:rPr>
              <a:t>GOVERNANCE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43400"/>
            <a:ext cx="21945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343400"/>
            <a:ext cx="212140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Avenir Next"/>
              </a:rPr>
              <a:t>repo-meta-structure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343400"/>
            <a:ext cx="22860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8416" y="4343400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Avenir Next"/>
              </a:rPr>
              <a:t>repo-compliance-audit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343400"/>
            <a:ext cx="228600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1616" y="4343400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Avenir Next"/>
              </a:rPr>
              <a:t>mise-en-place-scaffold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34639" y="4594860"/>
            <a:ext cx="457201" cy="0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77840" y="4594860"/>
            <a:ext cx="457200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507492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9D9A"/>
                </a:solidFill>
                <a:latin typeface="Avenir Next"/>
              </a:rPr>
              <a:t>KNOWLEDGE 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94960"/>
            <a:ext cx="21031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394960"/>
            <a:ext cx="202996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Avenir Next"/>
              </a:rPr>
              <a:t>obsidian-api-basics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5394960"/>
            <a:ext cx="21031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9856" y="5394960"/>
            <a:ext cx="202996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Avenir Next"/>
              </a:rPr>
              <a:t>obsidian-mcp-server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394960"/>
            <a:ext cx="21031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3056" y="5394960"/>
            <a:ext cx="2029967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 i="0">
                <a:solidFill>
                  <a:srgbClr val="161616"/>
                </a:solidFill>
                <a:latin typeface="Avenir Next"/>
              </a:rPr>
              <a:t>obsidian-chat-ui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43200" y="5646420"/>
            <a:ext cx="640080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86400" y="5646420"/>
            <a:ext cx="640080" cy="0"/>
          </a:xfrm>
          <a:prstGeom prst="line">
            <a:avLst/>
          </a:prstGeom>
          <a:ln w="22860">
            <a:solidFill>
              <a:srgbClr val="0F62F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691639" y="5394960"/>
            <a:ext cx="5394961" cy="0"/>
          </a:xfrm>
          <a:prstGeom prst="line">
            <a:avLst/>
          </a:prstGeom>
          <a:ln w="2540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778240" y="4343400"/>
            <a:ext cx="2864815" cy="155448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4480560"/>
            <a:ext cx="2499055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EDB-22 — the consumer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E0E0E0"/>
                </a:solidFill>
                <a:latin typeface="Avenir Next"/>
              </a:rPr>
              <a:t>a grounded planner assembles an ordered toolkit per goal from coverage + links + triggers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Roadmap: two tracks, six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strategy is to build only what is uniquely ours — the taxonomy, coverage, and curation decisions — and adopt or reuse everything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F62FE"/>
                </a:solidFill>
                <a:latin typeface="Avenir Next"/>
              </a:rPr>
              <a:t>TRACK I — our 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8608"/>
            <a:ext cx="3017520" cy="868680"/>
          </a:xfrm>
          <a:prstGeom prst="roundRect">
            <a:avLst/>
          </a:prstGeom>
          <a:solidFill>
            <a:srgbClr val="24A148"/>
          </a:solidFill>
          <a:ln w="25400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633472"/>
            <a:ext cx="2871215" cy="758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M1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venir Next"/>
              </a:rPr>
              <a:t>coverage —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578608"/>
            <a:ext cx="30175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2633472"/>
            <a:ext cx="2871215" cy="758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500" b="1" i="0">
                <a:solidFill>
                  <a:srgbClr val="0F62FE"/>
                </a:solidFill>
                <a:latin typeface="Avenir Next"/>
              </a:rPr>
              <a:t>M2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000" b="0" i="0">
                <a:solidFill>
                  <a:srgbClr val="0F62FE"/>
                </a:solidFill>
                <a:latin typeface="Avenir Next"/>
              </a:rPr>
              <a:t>analysis surface (report.py)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578608"/>
            <a:ext cx="30175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2633472"/>
            <a:ext cx="2871215" cy="758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500" b="1" i="0">
                <a:solidFill>
                  <a:srgbClr val="0F62FE"/>
                </a:solidFill>
                <a:latin typeface="Avenir Next"/>
              </a:rPr>
              <a:t>M3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000" b="0" i="0">
                <a:solidFill>
                  <a:srgbClr val="0F62FE"/>
                </a:solidFill>
                <a:latin typeface="Avenir Next"/>
              </a:rPr>
              <a:t>combine / coalesce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3012948"/>
            <a:ext cx="548640" cy="0"/>
          </a:xfrm>
          <a:prstGeom prst="line">
            <a:avLst/>
          </a:prstGeom>
          <a:ln w="2794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320" y="3012948"/>
            <a:ext cx="548640" cy="0"/>
          </a:xfrm>
          <a:prstGeom prst="line">
            <a:avLst/>
          </a:prstGeom>
          <a:ln w="2794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7033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3FFC"/>
                </a:solidFill>
                <a:latin typeface="Avenir Next"/>
              </a:rPr>
              <a:t>TRACK II — adopted eval (staged)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95928"/>
            <a:ext cx="30175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050791"/>
            <a:ext cx="2871215" cy="758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500" b="1" i="0">
                <a:solidFill>
                  <a:srgbClr val="0F62FE"/>
                </a:solidFill>
                <a:latin typeface="Avenir Next"/>
              </a:rPr>
              <a:t>M4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000" b="0" i="0">
                <a:solidFill>
                  <a:srgbClr val="0F62FE"/>
                </a:solidFill>
                <a:latin typeface="Avenir Next"/>
              </a:rPr>
              <a:t>formalize judge + rubric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95928"/>
            <a:ext cx="30175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4050791"/>
            <a:ext cx="2871215" cy="758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500" b="1" i="0">
                <a:solidFill>
                  <a:srgbClr val="0F62FE"/>
                </a:solidFill>
                <a:latin typeface="Avenir Next"/>
              </a:rPr>
              <a:t>M5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000" b="0" i="0">
                <a:solidFill>
                  <a:srgbClr val="0F62FE"/>
                </a:solidFill>
                <a:latin typeface="Avenir Next"/>
              </a:rPr>
              <a:t>first comparative benchmark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995928"/>
            <a:ext cx="30175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4050791"/>
            <a:ext cx="2871215" cy="758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500" b="1" i="0">
                <a:solidFill>
                  <a:srgbClr val="9A7B0A"/>
                </a:solidFill>
                <a:latin typeface="Avenir Next"/>
              </a:rPr>
              <a:t>M6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1000" b="0" i="0">
                <a:solidFill>
                  <a:srgbClr val="9A7B0A"/>
                </a:solidFill>
                <a:latin typeface="Avenir Next"/>
              </a:rPr>
              <a:t>self-improvement loop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4430268"/>
            <a:ext cx="548640" cy="0"/>
          </a:xfrm>
          <a:prstGeom prst="line">
            <a:avLst/>
          </a:prstGeom>
          <a:ln w="27940">
            <a:solidFill>
              <a:srgbClr val="39393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96912" y="3950208"/>
            <a:ext cx="109728" cy="960120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4882896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A7B0A"/>
                </a:solidFill>
                <a:latin typeface="Avenir Next"/>
              </a:rPr>
              <a:t>gated: M4+M5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4430268"/>
            <a:ext cx="274320" cy="0"/>
          </a:xfrm>
          <a:prstGeom prst="line">
            <a:avLst/>
          </a:prstGeom>
          <a:ln w="27940">
            <a:solidFill>
              <a:srgbClr val="F1C21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34840" y="5120640"/>
            <a:ext cx="2377439" cy="310896"/>
          </a:xfrm>
          <a:prstGeom prst="roundRect">
            <a:avLst/>
          </a:prstGeom>
          <a:solidFill>
            <a:srgbClr val="D0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120640"/>
            <a:ext cx="2377439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F62FE"/>
                </a:solidFill>
                <a:latin typeface="Avenir Next"/>
              </a:rPr>
              <a:t>reuse, don't build — runs on the meta-harness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F4F4F4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063721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F62FE"/>
                </a:solidFill>
                <a:latin typeface="Avenir Next"/>
              </a:rPr>
              <a:t>Execution principle (charter decisions 6–8): </a:t>
            </a:r>
            <a:r>
              <a:rPr sz="1400" b="0" i="0">
                <a:solidFill>
                  <a:srgbClr val="161616"/>
                </a:solidFill>
                <a:latin typeface="Avenir Next"/>
              </a:rPr>
              <a:t>methodologies are adopted (SkillOpt, ClosedLoop judges), the eval harness is reused — M5 runs through Henry's existing meta-harness on cheap models. Nothing bespoke gets built.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Decisions made — and the plan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Henry decided the batch on July twentieth: items A through E accepted as recommended, and F reversed — the saved gaps view will be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11094415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8640" cy="484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286000"/>
            <a:ext cx="7939735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Avenir Next"/>
              </a:rPr>
              <a:t>The five roster promotions from slide 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0207" y="2359152"/>
            <a:ext cx="2103120" cy="338328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3359" y="2359152"/>
            <a:ext cx="1956815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approved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16352"/>
            <a:ext cx="11094415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16352"/>
            <a:ext cx="548640" cy="484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548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816352"/>
            <a:ext cx="7939735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Avenir Next"/>
              </a:rPr>
              <a:t>Drop / fold the duplicative coleam00 excalidraw skill.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0207" y="2889504"/>
            <a:ext cx="2103120" cy="338328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3359" y="2889504"/>
            <a:ext cx="1956815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approved — drop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6704"/>
            <a:ext cx="11094415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46704"/>
            <a:ext cx="548640" cy="484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46704"/>
            <a:ext cx="548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346704"/>
            <a:ext cx="7939735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Avenir Next"/>
              </a:rPr>
              <a:t>Accept vendor-only coverage for improve-code via anthropic's code-simplifier.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0207" y="3419856"/>
            <a:ext cx="2103120" cy="338328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3359" y="3419856"/>
            <a:ext cx="1956815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accepted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77056"/>
            <a:ext cx="11094415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77056"/>
            <a:ext cx="548640" cy="484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77056"/>
            <a:ext cx="548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877056"/>
            <a:ext cx="7939735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Avenir Next"/>
              </a:rPr>
              <a:t>Approve the obsidian-cli reference fix next session — satisfies BOTH remaining promotion-gate criteria.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0207" y="3950208"/>
            <a:ext cx="2103120" cy="338328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3359" y="3950208"/>
            <a:ext cx="1956815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approved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07408"/>
            <a:ext cx="11094415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407408"/>
            <a:ext cx="548640" cy="48463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07408"/>
            <a:ext cx="548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4407408"/>
            <a:ext cx="7939735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Avenir Next"/>
              </a:rPr>
              <a:t>The repo/path pointer to the meta-harness — M5 cannot start without it, and nothing gets built in its place by design.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30207" y="4480560"/>
            <a:ext cx="2103120" cy="338328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3359" y="4480560"/>
            <a:ext cx="1956815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STILL NEEDED — blocks M5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37760"/>
            <a:ext cx="11094415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548640" cy="484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548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937760"/>
            <a:ext cx="7939735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Avenir Next"/>
              </a:rPr>
              <a:t>Optional: a saved gaps view in the database.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30207" y="5010912"/>
            <a:ext cx="2103120" cy="338328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3359" y="5010912"/>
            <a:ext cx="1956815" cy="3383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REVERSED — will build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550407"/>
            <a:ext cx="11094415" cy="658368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550407"/>
            <a:ext cx="1054577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All remaining development is now tracked as epic #154 with 13 sub-issues (#155–#167) — promotions, coleam00 drop, gate path, coverage_gaps view, M2–M6.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Health and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Everything the project asserts about itself was verified by gates this session, and the operating knowledge is now written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284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4A148"/>
                </a:solidFill>
                <a:latin typeface="Avenir Next"/>
              </a:rPr>
              <a:t>ALL DEFINITION-OF-DONE GATES 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21311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487168"/>
            <a:ext cx="198479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4A148"/>
                </a:solidFill>
                <a:latin typeface="Avenir Next"/>
              </a:rPr>
              <a:t>✓ </a:t>
            </a:r>
            <a:r>
              <a:rPr sz="1100" b="1" i="0">
                <a:solidFill>
                  <a:srgbClr val="161616"/>
                </a:solidFill>
                <a:latin typeface="Avenir Next"/>
              </a:rPr>
              <a:t>idempotent loaders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9468" y="2487168"/>
            <a:ext cx="21311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620" y="2487168"/>
            <a:ext cx="198479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4A148"/>
                </a:solidFill>
                <a:latin typeface="Avenir Next"/>
              </a:rPr>
              <a:t>✓ </a:t>
            </a:r>
            <a:r>
              <a:rPr sz="1100" b="1" i="0">
                <a:solidFill>
                  <a:srgbClr val="161616"/>
                </a:solidFill>
                <a:latin typeface="Avenir Next"/>
              </a:rPr>
              <a:t>ingest checksum-verified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0297" y="2487168"/>
            <a:ext cx="21311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3449" y="2487168"/>
            <a:ext cx="198479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4A148"/>
                </a:solidFill>
                <a:latin typeface="Avenir Next"/>
              </a:rPr>
              <a:t>✓ </a:t>
            </a:r>
            <a:r>
              <a:rPr sz="1100" b="1" i="0">
                <a:solidFill>
                  <a:srgbClr val="161616"/>
                </a:solidFill>
                <a:latin typeface="Avenir Next"/>
              </a:rPr>
              <a:t>zero unlinked assessments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71125" y="2487168"/>
            <a:ext cx="21311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4277" y="2487168"/>
            <a:ext cx="198479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4A148"/>
                </a:solidFill>
                <a:latin typeface="Avenir Next"/>
              </a:rPr>
              <a:t>✓ </a:t>
            </a:r>
            <a:r>
              <a:rPr sz="1100" b="1" i="0">
                <a:solidFill>
                  <a:srgbClr val="161616"/>
                </a:solidFill>
                <a:latin typeface="Avenir Next"/>
              </a:rPr>
              <a:t>make ci — 120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11954" y="2487168"/>
            <a:ext cx="21311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5106" y="2487168"/>
            <a:ext cx="198479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4A148"/>
                </a:solidFill>
                <a:latin typeface="Avenir Next"/>
              </a:rPr>
              <a:t>✓ </a:t>
            </a:r>
            <a:r>
              <a:rPr sz="1100" b="1" i="0">
                <a:solidFill>
                  <a:srgbClr val="161616"/>
                </a:solidFill>
                <a:latin typeface="Avenir Next"/>
              </a:rPr>
              <a:t>data.db WAL-checkpointed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1094415" cy="2651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440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Standing invariants: session-only database credentials (judge agents are structurally read-only); every verdict provenance-linked; generated artifacts have regen scripts; schema changes merge-by-name.</a:t>
            </a:r>
          </a:p>
          <a:p>
            <a:pPr>
              <a:lnSpc>
                <a:spcPct val="112000"/>
              </a:lnSpc>
              <a:spcAft>
                <a:spcPts val="1440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New this session: PROCEDURES.md — the runbook with script run order, the evaluated-pass pattern, gates, and the commit discipline — so any cold session can operate the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· STATUS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Status in one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94415" cy="196596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274320" bIns="274320"/>
          <a:lstStyle/>
          <a:p>
            <a:pPr algn="ctr">
              <a:lnSpc>
                <a:spcPct val="125000"/>
              </a:lnSpc>
            </a:pPr>
            <a:r>
              <a:rPr sz="2000">
                <a:solidFill>
                  <a:srgbClr val="FFFFFF"/>
                </a:solidFill>
                <a:latin typeface="Avenir Next"/>
              </a:rPr>
              <a:t>Foundation complete and verified; decisions made; all remaining development tracked on epic #154 — the evaluation track starts once the meta-harness pointer lands.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" cy="1965960"/>
          </a:xfrm>
          <a:prstGeom prst="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25252"/>
                </a:solidFill>
                <a:latin typeface="Avenir Next"/>
              </a:rPr>
              <a:t>THE PATH FROM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3301898" cy="603504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3931920"/>
            <a:ext cx="315559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M1 delivered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05402" y="4233672"/>
            <a:ext cx="484632" cy="0"/>
          </a:xfrm>
          <a:prstGeom prst="line">
            <a:avLst/>
          </a:prstGeom>
          <a:ln w="31750">
            <a:solidFill>
              <a:srgbClr val="8D8D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44898" y="3931920"/>
            <a:ext cx="3301898" cy="603504"/>
          </a:xfrm>
          <a:prstGeom prst="round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8050" y="3931920"/>
            <a:ext cx="315559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61616"/>
                </a:solidFill>
                <a:latin typeface="Avenir Next"/>
              </a:rPr>
              <a:t>5 promotions + meta-harness pointer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01660" y="4233672"/>
            <a:ext cx="484632" cy="0"/>
          </a:xfrm>
          <a:prstGeom prst="line">
            <a:avLst/>
          </a:prstGeom>
          <a:ln w="31750">
            <a:solidFill>
              <a:srgbClr val="8D8D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41156" y="3931920"/>
            <a:ext cx="3301898" cy="603504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4308" y="3931920"/>
            <a:ext cx="315559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evaluation track goes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92040"/>
            <a:ext cx="1109441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892040"/>
            <a:ext cx="10545775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61616"/>
                </a:solidFill>
                <a:latin typeface="Avenir Next"/>
              </a:rPr>
              <a:t>Branch feat/extender-db pushed through fa84ecd · working tree clean · server restartable via serve.sh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32120"/>
            <a:ext cx="1109441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532120"/>
            <a:ext cx="10545775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61616"/>
                </a:solidFill>
                <a:latin typeface="Avenir Next"/>
              </a:rPr>
              <a:t>Epic: #154 · Runbook: PROCEDURES.md · Matrix: coverage-matrix.md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